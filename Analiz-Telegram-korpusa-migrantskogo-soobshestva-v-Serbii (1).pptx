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Анализ Telegram-корпуса мигрантского сообщества в Сербии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Васильева Е.Е.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598646"/>
            <a:ext cx="801053" cy="231815"/>
          </a:xfrm>
          <a:prstGeom prst="roundRect">
            <a:avLst>
              <a:gd name="adj" fmla="val 43949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846773" y="641033"/>
            <a:ext cx="631269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ОПИСАНИЕ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61881" y="865703"/>
            <a:ext cx="3537466" cy="44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Описание проекта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8568" y="1539478"/>
            <a:ext cx="4147423" cy="23501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881" y="3988951"/>
            <a:ext cx="6380798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95342" y="1899999"/>
            <a:ext cx="6380798" cy="795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Данный проект посвящён комплексному анализу текстового корпуса, состоящего из сообщений Telegram-группы для мигрантов в Сербии за несколько последовательных лет.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95342" y="2731056"/>
            <a:ext cx="6380798" cy="106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Корпус разбит на подкорпуса по годам, что позволяет проводить сравнительный анализ и выявлять лексические особенности, характерные для конкретных временных периодов.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307580" y="4351377"/>
            <a:ext cx="15240" cy="3279934"/>
          </a:xfrm>
          <a:prstGeom prst="roundRect">
            <a:avLst>
              <a:gd name="adj" fmla="val 835638"/>
            </a:avLst>
          </a:prstGeom>
          <a:solidFill>
            <a:srgbClr val="B4CCE3"/>
          </a:solidFill>
          <a:ln/>
        </p:spPr>
      </p:sp>
      <p:sp>
        <p:nvSpPr>
          <p:cNvPr id="10" name="Shape 7"/>
          <p:cNvSpPr/>
          <p:nvPr/>
        </p:nvSpPr>
        <p:spPr>
          <a:xfrm>
            <a:off x="7047548" y="4502944"/>
            <a:ext cx="282893" cy="15240"/>
          </a:xfrm>
          <a:prstGeom prst="roundRect">
            <a:avLst>
              <a:gd name="adj" fmla="val 835638"/>
            </a:avLst>
          </a:prstGeom>
          <a:solidFill>
            <a:srgbClr val="B4CCE3"/>
          </a:solidFill>
          <a:ln/>
        </p:spPr>
      </p:sp>
      <p:sp>
        <p:nvSpPr>
          <p:cNvPr id="11" name="Shape 8"/>
          <p:cNvSpPr/>
          <p:nvPr/>
        </p:nvSpPr>
        <p:spPr>
          <a:xfrm>
            <a:off x="7262158" y="4457521"/>
            <a:ext cx="106085" cy="106085"/>
          </a:xfrm>
          <a:prstGeom prst="roundRect">
            <a:avLst>
              <a:gd name="adj" fmla="val 430975"/>
            </a:avLst>
          </a:prstGeom>
          <a:solidFill>
            <a:srgbClr val="84C1FA"/>
          </a:solidFill>
          <a:ln/>
        </p:spPr>
      </p:sp>
      <p:sp>
        <p:nvSpPr>
          <p:cNvPr id="12" name="Text 9"/>
          <p:cNvSpPr/>
          <p:nvPr/>
        </p:nvSpPr>
        <p:spPr>
          <a:xfrm>
            <a:off x="4216598" y="4399955"/>
            <a:ext cx="2532698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Сентябрь 2022 – Апрель 2023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61881" y="4673918"/>
            <a:ext cx="5987415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Первый период наблюдения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99960" y="5245298"/>
            <a:ext cx="282893" cy="15240"/>
          </a:xfrm>
          <a:prstGeom prst="roundRect">
            <a:avLst>
              <a:gd name="adj" fmla="val 835638"/>
            </a:avLst>
          </a:prstGeom>
          <a:solidFill>
            <a:srgbClr val="B4CCE3"/>
          </a:solidFill>
          <a:ln/>
        </p:spPr>
      </p:sp>
      <p:sp>
        <p:nvSpPr>
          <p:cNvPr id="15" name="Shape 12"/>
          <p:cNvSpPr/>
          <p:nvPr/>
        </p:nvSpPr>
        <p:spPr>
          <a:xfrm>
            <a:off x="7262158" y="5199876"/>
            <a:ext cx="106085" cy="106085"/>
          </a:xfrm>
          <a:prstGeom prst="roundRect">
            <a:avLst>
              <a:gd name="adj" fmla="val 430975"/>
            </a:avLst>
          </a:prstGeom>
          <a:solidFill>
            <a:srgbClr val="84C1FA"/>
          </a:solidFill>
          <a:ln/>
        </p:spPr>
      </p:sp>
      <p:sp>
        <p:nvSpPr>
          <p:cNvPr id="16" name="Text 13"/>
          <p:cNvSpPr/>
          <p:nvPr/>
        </p:nvSpPr>
        <p:spPr>
          <a:xfrm>
            <a:off x="7881104" y="5142309"/>
            <a:ext cx="2538770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Сентябрь 2023 – Апрель 2024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881104" y="5416272"/>
            <a:ext cx="5987415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Второй период наблюдения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7548" y="5923717"/>
            <a:ext cx="282893" cy="15240"/>
          </a:xfrm>
          <a:prstGeom prst="roundRect">
            <a:avLst>
              <a:gd name="adj" fmla="val 835638"/>
            </a:avLst>
          </a:prstGeom>
          <a:solidFill>
            <a:srgbClr val="B4CCE3"/>
          </a:solidFill>
          <a:ln/>
        </p:spPr>
      </p:sp>
      <p:sp>
        <p:nvSpPr>
          <p:cNvPr id="19" name="Shape 16"/>
          <p:cNvSpPr/>
          <p:nvPr/>
        </p:nvSpPr>
        <p:spPr>
          <a:xfrm>
            <a:off x="7262158" y="5878294"/>
            <a:ext cx="106085" cy="106085"/>
          </a:xfrm>
          <a:prstGeom prst="roundRect">
            <a:avLst>
              <a:gd name="adj" fmla="val 430975"/>
            </a:avLst>
          </a:prstGeom>
          <a:solidFill>
            <a:srgbClr val="84C1FA"/>
          </a:solidFill>
          <a:ln/>
        </p:spPr>
      </p:sp>
      <p:sp>
        <p:nvSpPr>
          <p:cNvPr id="20" name="Text 17"/>
          <p:cNvSpPr/>
          <p:nvPr/>
        </p:nvSpPr>
        <p:spPr>
          <a:xfrm>
            <a:off x="4210169" y="5820728"/>
            <a:ext cx="2539127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Сентябрь 2024 – Апрель 2025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61881" y="6094690"/>
            <a:ext cx="5987415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Третий период наблюдения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99960" y="6602254"/>
            <a:ext cx="282893" cy="15240"/>
          </a:xfrm>
          <a:prstGeom prst="roundRect">
            <a:avLst>
              <a:gd name="adj" fmla="val 835638"/>
            </a:avLst>
          </a:prstGeom>
          <a:solidFill>
            <a:srgbClr val="B4CCE3"/>
          </a:solidFill>
          <a:ln/>
        </p:spPr>
      </p:sp>
      <p:sp>
        <p:nvSpPr>
          <p:cNvPr id="23" name="Shape 20"/>
          <p:cNvSpPr/>
          <p:nvPr/>
        </p:nvSpPr>
        <p:spPr>
          <a:xfrm>
            <a:off x="7262158" y="6556831"/>
            <a:ext cx="106085" cy="106085"/>
          </a:xfrm>
          <a:prstGeom prst="roundRect">
            <a:avLst>
              <a:gd name="adj" fmla="val 430975"/>
            </a:avLst>
          </a:prstGeom>
          <a:solidFill>
            <a:srgbClr val="84C1FA"/>
          </a:solidFill>
          <a:ln/>
        </p:spPr>
      </p:sp>
      <p:sp>
        <p:nvSpPr>
          <p:cNvPr id="24" name="Text 21"/>
          <p:cNvSpPr/>
          <p:nvPr/>
        </p:nvSpPr>
        <p:spPr>
          <a:xfrm>
            <a:off x="7881104" y="6499265"/>
            <a:ext cx="2268141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Август 2025 – Январь 2026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881104" y="6773228"/>
            <a:ext cx="5987415" cy="18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Четвёртый период наблюдения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32642"/>
            <a:ext cx="1059418" cy="441484"/>
          </a:xfrm>
          <a:prstGeom prst="roundRect">
            <a:avLst>
              <a:gd name="adj" fmla="val 36993"/>
            </a:avLst>
          </a:prstGeom>
          <a:noFill/>
          <a:ln w="7620">
            <a:solidFill>
              <a:srgbClr val="84C1F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1262658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208246"/>
            <a:ext cx="49982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ЦЕЛИ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648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Цели проекта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13792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847862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Выявление лексических особенностей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4692610"/>
            <a:ext cx="389393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Выявить лексические и тематические особенности сообщений мигрантов в Сербии на основе анализа корпуса текстов Telegram-группы за несколько последовательных лет.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713792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68171" y="3847862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Исследование динамики изменений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368171" y="4692610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Проследить динамику изменений тем и словоупотребления в сообщениях мигрантов в разные временные периоды.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713792"/>
            <a:ext cx="4347567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15738" y="3847862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Демонстрация корпусных методов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715738" y="4692610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Продемонстрировать возможности корпусных методов и автоматизированного анализа текстов на материале реального пользовательского контента.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88808"/>
            <a:ext cx="2247781" cy="426244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2011204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956792"/>
            <a:ext cx="17034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ИНСТРУМЕНТАРИЙ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405777"/>
            <a:ext cx="60964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Инструменты проекта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54717"/>
            <a:ext cx="956905" cy="9569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34183" y="3454717"/>
            <a:ext cx="41945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Парсинг и извлечение данных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034183" y="3945136"/>
            <a:ext cx="51392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Beautiful Soup для парсинга Telegram-канала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3454717"/>
            <a:ext cx="956905" cy="9569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97278" y="3454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Обработка текста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97278" y="3945136"/>
            <a:ext cx="51393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Токенизация, регулярные выражения, список стоп-слов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24569"/>
            <a:ext cx="956905" cy="9569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34183" y="5124569"/>
            <a:ext cx="32339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Статистический анализ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034183" y="5614988"/>
            <a:ext cx="51392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Counter, TF-IDF, метрики коллокаций (PMI, Chi-square, LR)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5124569"/>
            <a:ext cx="956905" cy="9569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97278" y="51245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Telegram-бот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8697278" y="5614988"/>
            <a:ext cx="51393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Telegram-бот для поиска по корпусу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1903"/>
            <a:ext cx="368737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ЭТАП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3790" y="1180028"/>
            <a:ext cx="723257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Извлечение данных из Telegram-канала</a:t>
            </a:r>
            <a:endParaRPr lang="en-US" sz="2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73" y="2525792"/>
            <a:ext cx="5778341" cy="26002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79159" y="2702889"/>
            <a:ext cx="1011191" cy="31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Парсинг по периодам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5544" y="3342176"/>
            <a:ext cx="223976" cy="223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7038" y="4653043"/>
            <a:ext cx="1016747" cy="31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Применение BeautifulSoup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3423" y="4158907"/>
            <a:ext cx="223976" cy="223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96025" y="2683443"/>
            <a:ext cx="1011191" cy="31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Извлечение текста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09078" y="3319952"/>
            <a:ext cx="223976" cy="223976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1448" y="5233749"/>
            <a:ext cx="3806309" cy="1054298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2386" y="1892260"/>
            <a:ext cx="4121944" cy="1173242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3580" y="3173254"/>
            <a:ext cx="4059674" cy="374844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793790" y="7137202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334"/>
            <a:ext cx="53697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ЭТАП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93790" y="1148239"/>
            <a:ext cx="837045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Очистка и предобработка текстов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68379"/>
            <a:ext cx="7473077" cy="31694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2867" y="3232547"/>
            <a:ext cx="4241244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Процесс нормализации корпуса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602867" y="4181832"/>
            <a:ext cx="424124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3790" y="585120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3790" y="6175177"/>
            <a:ext cx="4225052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9" name="Text 6"/>
          <p:cNvSpPr/>
          <p:nvPr/>
        </p:nvSpPr>
        <p:spPr>
          <a:xfrm>
            <a:off x="793790" y="6322933"/>
            <a:ext cx="337637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Создание списка стоп-слов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3790" y="6751915"/>
            <a:ext cx="422505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Стандартный список дополнен специфичными для контекста словами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02555" y="585120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02555" y="6175177"/>
            <a:ext cx="4225171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3" name="Text 10"/>
          <p:cNvSpPr/>
          <p:nvPr/>
        </p:nvSpPr>
        <p:spPr>
          <a:xfrm>
            <a:off x="5202555" y="632293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Фильтрация текста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202555" y="6751915"/>
            <a:ext cx="422517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Удаление пунктуации, стоп-слов и некириллических символов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11439" y="585120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11439" y="6175177"/>
            <a:ext cx="4225171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7" name="Text 14"/>
          <p:cNvSpPr/>
          <p:nvPr/>
        </p:nvSpPr>
        <p:spPr>
          <a:xfrm>
            <a:off x="9611439" y="632293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Токенизация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611439" y="6751915"/>
            <a:ext cx="422517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Разбиение очищенного текста на отдельные токены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0212"/>
            <a:ext cx="511254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ЭТАП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3790" y="1091565"/>
            <a:ext cx="627280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Частотный анализ корпуса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1939766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 третьем этапе проводится количественный анализ лексики. Для каждого документа выделены 20 наиболее частотных слов. Результаты показывают высокую степень тематической стабильности: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3790" y="2694623"/>
            <a:ext cx="4238387" cy="2024301"/>
          </a:xfrm>
          <a:prstGeom prst="roundRect">
            <a:avLst>
              <a:gd name="adj" fmla="val 8572"/>
            </a:avLst>
          </a:prstGeom>
          <a:solidFill>
            <a:srgbClr val="CEE6FD"/>
          </a:solidFill>
          <a:ln/>
        </p:spPr>
      </p:sp>
      <p:sp>
        <p:nvSpPr>
          <p:cNvPr id="6" name="Text 4"/>
          <p:cNvSpPr/>
          <p:nvPr/>
        </p:nvSpPr>
        <p:spPr>
          <a:xfrm>
            <a:off x="986552" y="288738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2022–2023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6552" y="3286839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Топ-5: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сербии (1408), рф (1327), евро (1164), нс (1012), внж (1001)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6552" y="3955613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Также: купить, время, работает, найти, точно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96007" y="2694623"/>
            <a:ext cx="4238387" cy="2024301"/>
          </a:xfrm>
          <a:prstGeom prst="roundRect">
            <a:avLst>
              <a:gd name="adj" fmla="val 8572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5388769" y="288738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2023–2024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388769" y="3286839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Топ-5: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сербии (1724), внж (1648), рф (1592), нс (1182), евро (1168)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88769" y="3955613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Также: купить, время, знает, работает, сколько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598223" y="2694623"/>
            <a:ext cx="4238387" cy="2024301"/>
          </a:xfrm>
          <a:prstGeom prst="roundRect">
            <a:avLst>
              <a:gd name="adj" fmla="val 8572"/>
            </a:avLst>
          </a:prstGeom>
          <a:solidFill>
            <a:srgbClr val="CEE6FD"/>
          </a:solidFill>
          <a:ln/>
        </p:spPr>
      </p:sp>
      <p:sp>
        <p:nvSpPr>
          <p:cNvPr id="14" name="Text 12"/>
          <p:cNvSpPr/>
          <p:nvPr/>
        </p:nvSpPr>
        <p:spPr>
          <a:xfrm>
            <a:off x="9790986" y="288738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2024–2025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790986" y="3286839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Топ-5: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сербии (1361), внж (1018), рф (967), нс (915), евро (868)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90986" y="3955613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Также: работает, знает, время, точно, года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3790" y="4882753"/>
            <a:ext cx="13042821" cy="1453753"/>
          </a:xfrm>
          <a:prstGeom prst="roundRect">
            <a:avLst>
              <a:gd name="adj" fmla="val 11936"/>
            </a:avLst>
          </a:prstGeom>
          <a:solidFill>
            <a:srgbClr val="CEE6FD"/>
          </a:solidFill>
          <a:ln/>
        </p:spPr>
      </p:sp>
      <p:sp>
        <p:nvSpPr>
          <p:cNvPr id="18" name="Text 16"/>
          <p:cNvSpPr/>
          <p:nvPr/>
        </p:nvSpPr>
        <p:spPr>
          <a:xfrm>
            <a:off x="986552" y="507551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2025–2026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86552" y="5474970"/>
            <a:ext cx="126572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Топ-5: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сербии (983), внж (847), рф (813), точно (640), работает (639)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86552" y="5858470"/>
            <a:ext cx="126572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Также: евро, время, именно, купить, могут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3790" y="6520815"/>
            <a:ext cx="13042821" cy="1026200"/>
          </a:xfrm>
          <a:prstGeom prst="roundRect">
            <a:avLst>
              <a:gd name="adj" fmla="val 16909"/>
            </a:avLst>
          </a:prstGeom>
          <a:solidFill>
            <a:srgbClr val="B5DAFC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552" y="6806327"/>
            <a:ext cx="240983" cy="19276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20297" y="6732746"/>
            <a:ext cx="1222355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Устойчивое присутствие слов «сербии», «внж», «рф», «евро» во всех периодах отражает ключевые темы для всех годов: локация, легализация и финансы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2580"/>
            <a:ext cx="849915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TF-IDF: уникальные слова периодов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572697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Для каждого года удалось выявить специфическую лексику, понятную мигрантам, но зачастую непонятную постороннему человеку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2491383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2022–2023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93790" y="3016687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Доминирующие термины: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3790" y="3449360"/>
            <a:ext cx="6286262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экспо (0.158), пцр (0.118)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элефанте (0.090), юань (0.061), 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юнистрима (0.054),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лендлорда (0.057)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3790" y="5042873"/>
            <a:ext cx="6286262" cy="31671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5258753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2023–2024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93790" y="5784056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Доминирующие термины: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3790" y="6216729"/>
            <a:ext cx="6286262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агния (0.153), зеленило (0.053)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павлы (0.120), нко (0.099)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додо (0.097), суперверо (0.072), 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веро (0.063)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19142" y="2327553"/>
            <a:ext cx="6563916" cy="5259348"/>
          </a:xfrm>
          <a:prstGeom prst="roundRect">
            <a:avLst>
              <a:gd name="adj" fmla="val 5279"/>
            </a:avLst>
          </a:prstGeom>
          <a:solidFill>
            <a:srgbClr val="D8AFF8"/>
          </a:solidFill>
          <a:ln/>
        </p:spPr>
      </p:sp>
      <p:sp>
        <p:nvSpPr>
          <p:cNvPr id="12" name="Text 10"/>
          <p:cNvSpPr/>
          <p:nvPr/>
        </p:nvSpPr>
        <p:spPr>
          <a:xfrm>
            <a:off x="7611904" y="2491383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2024–2025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611904" y="3016687"/>
            <a:ext cx="617839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Доминирующие термины: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11904" y="3449360"/>
            <a:ext cx="6178391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радничка (0.148), 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оков (0.084), веро (0.076), 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депревоз (0.071)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трагедии (0.069), протест (0.069)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11904" y="5042873"/>
            <a:ext cx="6178391" cy="31671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611904" y="5258753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2025–2026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611904" y="5784056"/>
            <a:ext cx="617839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Доминирующие термины: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11904" y="6216729"/>
            <a:ext cx="6178391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таланту (0.115), мыш (0.112)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юнет (0.082), скам (0.082)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кеса (0.066)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882" y="727591"/>
            <a:ext cx="556974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ЭТАП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6882" y="1121807"/>
            <a:ext cx="6343055" cy="650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Коллокационный анализ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766882" y="2058710"/>
            <a:ext cx="13096637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 четвёртом этапе проводится анализ устойчивых словосочетаний с использованием трёх метрик: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6882" y="2592824"/>
            <a:ext cx="4238149" cy="3479721"/>
          </a:xfrm>
          <a:prstGeom prst="roundRect">
            <a:avLst>
              <a:gd name="adj" fmla="val 315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4022" y="2592824"/>
            <a:ext cx="91440" cy="3479721"/>
          </a:xfrm>
          <a:prstGeom prst="roundRect">
            <a:avLst>
              <a:gd name="adj" fmla="val 204884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1066443" y="2823805"/>
            <a:ext cx="3707606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PMI (Pointwise Mutual Information)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6443" y="3588663"/>
            <a:ext cx="3707606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2022: сараевский чевап (16.632)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443" y="4022408"/>
            <a:ext cx="3707606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2023: свака част (17.532)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443" y="4456152"/>
            <a:ext cx="3707606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2024: хитна помоч (16.719)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443" y="4889897"/>
            <a:ext cx="3707606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2025: яша томиче (16.487)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443" y="5323642"/>
            <a:ext cx="3707606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96007" y="2592824"/>
            <a:ext cx="4238268" cy="3479721"/>
          </a:xfrm>
          <a:prstGeom prst="roundRect">
            <a:avLst>
              <a:gd name="adj" fmla="val 315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73147" y="2592824"/>
            <a:ext cx="91440" cy="3479721"/>
          </a:xfrm>
          <a:prstGeom prst="roundRect">
            <a:avLst>
              <a:gd name="adj" fmla="val 204884"/>
            </a:avLst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6048375" y="2823805"/>
            <a:ext cx="260199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Chi-square (χ²)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95568" y="3263503"/>
            <a:ext cx="3707725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2022: фиш зелениш (406476), птц телекком (406476)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95568" y="4016454"/>
            <a:ext cx="3707725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2023: име презиме (568713)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95568" y="4450199"/>
            <a:ext cx="3707725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2024: лазин салаш (431741)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95568" y="4883944"/>
            <a:ext cx="3707725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2025: здравых хранах (367422)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25251" y="2592824"/>
            <a:ext cx="4238268" cy="3479721"/>
          </a:xfrm>
          <a:prstGeom prst="roundRect">
            <a:avLst>
              <a:gd name="adj" fmla="val 315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2391" y="2592824"/>
            <a:ext cx="91440" cy="3479721"/>
          </a:xfrm>
          <a:prstGeom prst="roundRect">
            <a:avLst>
              <a:gd name="adj" fmla="val 204884"/>
            </a:avLst>
          </a:prstGeom>
          <a:solidFill>
            <a:srgbClr val="84C1FA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619" y="2823805"/>
            <a:ext cx="260199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Likelihood Ratio (LR)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24812" y="3263503"/>
            <a:ext cx="3707725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2022: белый картон (3122.5), бульваре освобождения (448.2)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24812" y="4016454"/>
            <a:ext cx="3707725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2023: белый картон (3345.5)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24812" y="4450199"/>
            <a:ext cx="3707725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2024: белый картон (2442.9), золотая корона (478.1)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24812" y="5203150"/>
            <a:ext cx="3707725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2025: белый картон (1189.03), цыганская почта (438.52)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6882" y="6287453"/>
            <a:ext cx="13096637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 метрике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Likelihood Ratio (LR)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самым употребляемым словосочетанием во всех четырёх периодах оказался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«белый картон». 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Снижение коэффициента показывает, что актуальность этого термина постепенно спадала. По метрикам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PMI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и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Chi-square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в некоторых периодах были выявлены словосочетания на сербском языке, что может свидетельствовать о процессах языковой интеграции мигрантов.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7241" y="621149"/>
            <a:ext cx="2719983" cy="340043"/>
          </a:xfrm>
          <a:prstGeom prst="roundRect">
            <a:avLst>
              <a:gd name="adj" fmla="val 40486"/>
            </a:avLst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1898" y="714732"/>
            <a:ext cx="152876" cy="1528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1213" y="678418"/>
            <a:ext cx="2261354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ПРАКТИЧЕСКОЕ ПРИМЕНЕНИЕ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87241" y="1025604"/>
            <a:ext cx="8501777" cy="59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Telegram-бот для работы с корпусом</a:t>
            </a:r>
            <a:endParaRPr lang="en-US" sz="3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065" y="2046089"/>
            <a:ext cx="4166949" cy="48614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7241" y="7088862"/>
            <a:ext cx="2868097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7556063" y="2009775"/>
            <a:ext cx="6294715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556063" y="2436614"/>
            <a:ext cx="6294715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56063" y="2863453"/>
            <a:ext cx="6294715" cy="352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Интерактивный инструмент исследования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7556063" y="3360777"/>
            <a:ext cx="6294715" cy="105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 пятом этапе создан Telegram-бот, демонстрирующий практическое применение собранного корпуса текстов.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7556063" y="4562713"/>
            <a:ext cx="6294715" cy="352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Функциональность: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7556063" y="5060037"/>
            <a:ext cx="6294715" cy="760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Поиск сообщений по заданному ключевому слову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Вывод контекстов из всего корпуса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556063" y="5965984"/>
            <a:ext cx="6294715" cy="70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Бот позволяет находить примеры словоупотребления и анализировать контексты.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2026-02-24T18:20:16Z</dcterms:created>
  <dcterms:modified xsi:type="dcterms:W3CDTF">2026-02-24T18:20:16Z</dcterms:modified>
</cp:coreProperties>
</file>